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d4f3ef13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d4f3ef13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4f3ef135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4f3ef135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4f3ef135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4f3ef135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nl">
                <a:solidFill>
                  <a:schemeClr val="dk1"/>
                </a:solidFill>
              </a:rPr>
              <a:t>Search Engine Optimization, ookwel SEO, is het verbeteren van de zichtbaarheid en prestaties van pagina's op zoekmachines zoals bijv. Google, Brave en Bing .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nl">
                <a:solidFill>
                  <a:schemeClr val="dk1"/>
                </a:solidFill>
              </a:rPr>
              <a:t>[^SEOGratis]: Behalve natuurlijk als je ervoor iemand inhuurt, of wellicht valse praktijken toepast.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d4f3ef1355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d4f3ef135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nl"/>
              <a:t>Afwijkend van veel vormen van marketing/promotie is SEO doorgaans gratis[^SEOGratis] [@WikipediaSEO; @MDNSEO; @GoogleSEO; @WikipediaSearchEngines]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nl"/>
              <a:t>De uiteindelijke plaatsing binnen de rangordening wordt de ranking genoemd.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nl"/>
              <a:t>Een zoekmachine berust op zijn index om zoekresultaten te kunnen bieden. Vergelijkbaar met een index in een boek om zo op basis van trefwoorden informatie in het boek te vinden. Een webpagina's is daaruit theoretisch te vinden via een zoekmachine wanneer deze geïndexeerd is. [@GoogleSearchHowItWorks]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nl"/>
              <a:t>Voordat een pagina geïndexeerd kan worden zal deze eerst überhaupt ontdekt moeten worden door de zoekmachine. Dit wordt voornamelijk gedaan door zogenoemde crawlers die links op al geïndexeerde pagina's volgen om zo nieuwe pagina's te vinden. In sommige gevallen wordt dit ook handmatig aangevraagd met behulp van een sitemap. [@GoogleSearchHowItWorks; @WikipediaSEO]</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4f3ef135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4f3ef135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nl"/>
              <a:t>Er zijn enkele begineisen om een pagina te laten indexeren [@GoogleTechRequirements]: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nl"/>
              <a:t>- Crawlers zijn niet geblokkeerd</a:t>
            </a:r>
            <a:endParaRPr/>
          </a:p>
          <a:p>
            <a:pPr indent="0" lvl="0" marL="0" rtl="0" algn="l">
              <a:spcBef>
                <a:spcPts val="0"/>
              </a:spcBef>
              <a:spcAft>
                <a:spcPts val="0"/>
              </a:spcAft>
              <a:buClr>
                <a:schemeClr val="dk1"/>
              </a:buClr>
              <a:buSzPts val="1100"/>
              <a:buFont typeface="Arial"/>
              <a:buNone/>
            </a:pPr>
            <a:r>
              <a:rPr lang="nl"/>
              <a:t>- De pagina is functioneel</a:t>
            </a:r>
            <a:endParaRPr/>
          </a:p>
          <a:p>
            <a:pPr indent="0" lvl="0" marL="0" rtl="0" algn="l">
              <a:spcBef>
                <a:spcPts val="0"/>
              </a:spcBef>
              <a:spcAft>
                <a:spcPts val="0"/>
              </a:spcAft>
              <a:buClr>
                <a:schemeClr val="dk1"/>
              </a:buClr>
              <a:buSzPts val="1100"/>
              <a:buFont typeface="Arial"/>
              <a:buNone/>
            </a:pPr>
            <a:r>
              <a:rPr lang="nl"/>
              <a:t>- De pagina is indexeerbaar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nl"/>
              <a:t>Sommige pagina's hoeven helemaal geïndexeerd worden, zoals bijv. een inlogpagina, print-versie, of een tijdelijke website.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4f3ef135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4f3ef135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4f3ef135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d4f3ef1355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Google's daadwerkelijke algoritme is geheim — echter zijn [de guidelines](https://static.googleusercontent.com/media/guidelines.raterhub.com/en//searchqualityevaluatorguidelines.pdf) waaruit ze feedback onttrekken openlijk beschikbaar.</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nl"/>
              <a:t>Zoekmachines adviseren pagina's te ontwerpen naar gebruikers, waarbij ontwerp naar zoekmachines voornamelijk wordt gezien als misbruik, wat kan leiden tot negatieve effecten op indexatie. Daaruit zullen zoekmachines behulpzame informatie hoger proberen te indexeren. [@GooglePeopleFirst; @BingGuidelines]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nl"/>
              <a:t>Volgens de Google guidelines wordt er gekeken naar twee delen, de pagina kwaliteit en de vervulling van behoeften. Voor SEO is de pagina kwaliteit hier van belang. De pagina kwaliteit reflecteert in hoeverre de pagina zijn eigen beschreven doel bereikt, met uitzondering van misleiding. Deze beoordeling wordt gedaan op basis van de ervaring, expertise en autoriteit van de maker in combinatie met het vertrouwen dat de pagina accuraat eerlijk, veilig en betrouwbaar is. **Zoekmachines nemen dus niet enkel rekening met de "wat", maar ook de "wie", "hoe" en "waarom"**. [@GoogleQualityRaterGuidelines; @GooglePeopleFirst]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4f3ef1355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4f3ef1355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nl"/>
              <a:t>Zoals eerder besproken ligt er tegenwoordig een hoge nadruk op gebruikersgericht schrijven. Echter, men onthaalt nog steeds andere betekenis uit een pagina dan dat een zoekmachine denkt. Door expliciete beschrijvingen specifiek toe te voegen voor de _bots_ wordt dit gat kleiner.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nl"/>
              <a:t>De `&lt;title&gt;` en `&lt;meta name="description"&gt;` tags zijn hier de kern. Deze bieden respectievelijk een korte titel en beschrijving. Dit is vaak de tekst die je zult zien per resultaat bij zoekresultaten. [@GoogleMetaTags; @GoogleTitleLinks; @BingGuidelines]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nl"/>
              <a:t>Ook inhoudelijke semantische HTML-elementen zoals gebruik van `&lt;quote&gt;`, `&lt;article&gt;`, `&lt;section&gt;` kunnen het beter te begrijpen maken. Een logische _hoofdstukstructuur_ van `&lt;h1&gt;` t/m `&lt;h6` is hier ook van belang, en kunnen soms ook als kernwoorden gebruikt worden in zoekresultaten. [@BingGuidelines]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nl"/>
              <a:t>Foto's en video's vereisen meer aandacht om informatie over te brengen naar de _bots_. Bied alternatieve tekst, captions, transcripts en _structured data_ aan[^latermeer]. [@BingGuidelines; @GoogleImages]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nl"/>
              <a:t>[^latermeer]: _structured data_ wordt in het hoofdstuk [Uiterlijk](#uiterlijk) meer besproken.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4f3ef1355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d4f3ef1355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Tijd om zelf wat uit te proberen/vragen?</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Specifiek goed om te beginnen bij titel en beschrijving.</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4f3ef1355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4f3ef1355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nl"/>
              <a:t>Interne links, d.w.z. pagina's die verwijzen naar andere pagina's binnen hetzelfde domein, zijn belangrijk voor gebruikers en bots om gerelateerde informatie te vinden op een pagina. Het geeft namelijk weer hoe pagina's met elkaar in verband staan. [@GoogleLinks; @BingGuidelines]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nl"/>
              <a:t>Externe links, d.w.z. pagina's die verwijzen naar andere pagina's buiten het domein, kunnen een pagina zijn inhoud betrouwbaarder maken, denk aan bijv. het citeren van bronnen. [@GoogleLinks; @BingGuidelines]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nl"/>
              <a:t>Backlinks, d.w.z. pagina's van andere domeinen die verwijzen naar pagina's op jouw domein, signaleren sterk dat men de inhoud van waarde inschatten. Daarmee _leen_ je de autoriteit van oorsprong van de link. Let erop dat veel platforms, bijv. LinkedIn, dit expliciet niet doen. [@BingLinkBuilding]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4f3ef135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4f3ef135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Welk platform zou jou als bron vertrouwen? Met wie kan je zo’n mutualistische band opbouwen.</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4f3ef1355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d4f3ef1355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4f3ef1355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d4f3ef1355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nl"/>
              <a:t>De randvoorwaarden, zoals veiligheid, snelheid en toegankelijkheid, spreken ook over de kwaliteit van een webpagina. Daaruit worden deze ook meegenomen. Dit ligt technischer en worden daarom niet uitgebreid besproken. [PageSpeed Insights](https://pagespeed.web.dev) zou gebruikt kunnen worden als beginpunt[^pagespeedcritical]. [@GooglePageXP]</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nl"/>
              <a:t>[^pagespeedcritical]: Neem er rekening mee dat deze inzichten zeer kritisch zijn. Een lagere score betekent niet gelijk dat een ranking laag zal zijn.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4f3ef1355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d4f3ef1355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4f3ef1355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d4f3ef1355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Naast de positie, de ranking, maakt het natuurlijk ook uit wat er staat als zoekresultaat. Het is van belang dat het zoekresultaat er aantrekkelijk uitziet.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4f3ef1355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d4f3ef1355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De eerdere titel en beschrijving zal je doorgaans vaak tegenkomen in zoekresultaten. Zolang dit geschreven is richting de gebruiker hoeft hier vermoedelijk weinig nog gedaan aan te worden.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4f3ef1355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4f3ef1355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nl"/>
              <a:t>Met behulp van gestandaardiseerd format genaamd _structured data_ kan meer informatie gegeven worden, maar wellicht unieker: classificaties. Bijv. een artikel, carousel, cursuslijst, evenement, Q&amp;A, recept en [anderen](https://developers.google.com/search/docs/appearance/structured-data/search-gallery). Deze classificaties kan de zoekmachine vervolgens gebruiken voor een unieker uiterlijk.</a:t>
            </a:r>
            <a:endParaRPr/>
          </a:p>
          <a:p>
            <a:pPr indent="0" lvl="0" marL="0" rtl="0" algn="l">
              <a:spcBef>
                <a:spcPts val="0"/>
              </a:spcBef>
              <a:spcAft>
                <a:spcPts val="0"/>
              </a:spcAft>
              <a:buNone/>
            </a:pPr>
            <a:r>
              <a:rPr lang="nl"/>
              <a:t>[@GoogleStructuredData; @GoogleStructuredDataSupports]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4f3ef1355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d4f3ef1355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Normaliter krijgen gedeelde links op socialmediaplatforms een preview, een voorbeeld van waar de website over gaat. Vergelijkbaar met _structured data_ kan er meer informatie gegeven worden betreffende het uiterlijk. Meeste platforms gebruiken hierbij waardes uit het [open graph protocol](https://ogp.me/).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d4f3ef1355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d4f3ef1355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Al wat ideeën om meer op te vallen?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4f3ef1355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d4f3ef1355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Voorbeeld: </a:t>
            </a:r>
            <a:r>
              <a:rPr lang="nl"/>
              <a:t>https://svelte.dev/docs/llms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4f3ef1355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d4f3ef1355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4f3ef1355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d4f3ef1355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n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pagespeed.web.dev/"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s://developers.google.com/search/docs/appearance/structured-data/search-gallery" TargetMode="External"/><Relationship Id="rId4" Type="http://schemas.openxmlformats.org/officeDocument/2006/relationships/hyperlink" Target="https://search.google.com/test/rich-results" TargetMode="External"/><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hyperlink" Target="https://ogp.me/" TargetMode="External"/><Relationship Id="rId4" Type="http://schemas.openxmlformats.org/officeDocument/2006/relationships/image" Target="../media/image8.png"/><Relationship Id="rId5"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571650" y="2183200"/>
            <a:ext cx="2000700" cy="985200"/>
          </a:xfrm>
          <a:prstGeom prst="rect">
            <a:avLst/>
          </a:prstGeom>
          <a:solidFill>
            <a:srgbClr val="000000">
              <a:alpha val="50000"/>
            </a:srgbClr>
          </a:solidFill>
        </p:spPr>
        <p:txBody>
          <a:bodyPr anchorCtr="0" anchor="b" bIns="91425" lIns="91425" spcFirstLastPara="1" rIns="91425" wrap="square" tIns="91425">
            <a:spAutoFit/>
          </a:bodyPr>
          <a:lstStyle/>
          <a:p>
            <a:pPr indent="0" lvl="0" marL="0" rtl="0" algn="ctr">
              <a:spcBef>
                <a:spcPts val="0"/>
              </a:spcBef>
              <a:spcAft>
                <a:spcPts val="0"/>
              </a:spcAft>
              <a:buNone/>
            </a:pPr>
            <a:r>
              <a:rPr b="1" lang="nl"/>
              <a:t>SEO</a:t>
            </a:r>
            <a:endParaRPr b="1"/>
          </a:p>
        </p:txBody>
      </p:sp>
      <p:sp>
        <p:nvSpPr>
          <p:cNvPr id="55" name="Google Shape;55;p13"/>
          <p:cNvSpPr txBox="1"/>
          <p:nvPr>
            <p:ph type="ctrTitle"/>
          </p:nvPr>
        </p:nvSpPr>
        <p:spPr>
          <a:xfrm>
            <a:off x="235875" y="4017925"/>
            <a:ext cx="2288700" cy="400200"/>
          </a:xfrm>
          <a:prstGeom prst="rect">
            <a:avLst/>
          </a:prstGeom>
          <a:solidFill>
            <a:srgbClr val="000000">
              <a:alpha val="50000"/>
            </a:srgbClr>
          </a:solidFill>
        </p:spPr>
        <p:txBody>
          <a:bodyPr anchorCtr="0" anchor="b" bIns="91425" lIns="91425" spcFirstLastPara="1" rIns="91425" wrap="square" tIns="91425">
            <a:spAutoFit/>
          </a:bodyPr>
          <a:lstStyle/>
          <a:p>
            <a:pPr indent="0" lvl="0" marL="0" rtl="0" algn="ctr">
              <a:spcBef>
                <a:spcPts val="0"/>
              </a:spcBef>
              <a:spcAft>
                <a:spcPts val="0"/>
              </a:spcAft>
              <a:buNone/>
            </a:pPr>
            <a:r>
              <a:rPr lang="nl" sz="1400"/>
              <a:t>Apr 7 2026</a:t>
            </a:r>
            <a:endParaRPr sz="1400"/>
          </a:p>
        </p:txBody>
      </p:sp>
      <p:sp>
        <p:nvSpPr>
          <p:cNvPr id="56" name="Google Shape;56;p13"/>
          <p:cNvSpPr txBox="1"/>
          <p:nvPr>
            <p:ph type="ctrTitle"/>
          </p:nvPr>
        </p:nvSpPr>
        <p:spPr>
          <a:xfrm>
            <a:off x="235875" y="4491250"/>
            <a:ext cx="2288700" cy="431100"/>
          </a:xfrm>
          <a:prstGeom prst="rect">
            <a:avLst/>
          </a:prstGeom>
          <a:solidFill>
            <a:srgbClr val="000000">
              <a:alpha val="50000"/>
            </a:srgbClr>
          </a:solidFill>
        </p:spPr>
        <p:txBody>
          <a:bodyPr anchorCtr="0" anchor="b" bIns="91425" lIns="91425" spcFirstLastPara="1" rIns="91425" wrap="square" tIns="91425">
            <a:spAutoFit/>
          </a:bodyPr>
          <a:lstStyle/>
          <a:p>
            <a:pPr indent="0" lvl="0" marL="0" rtl="0" algn="ctr">
              <a:spcBef>
                <a:spcPts val="0"/>
              </a:spcBef>
              <a:spcAft>
                <a:spcPts val="0"/>
              </a:spcAft>
              <a:buNone/>
            </a:pPr>
            <a:r>
              <a:rPr lang="nl" sz="1600"/>
              <a:t>Pieter Groenendijk</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Inhoud</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Char char="-"/>
            </a:pPr>
            <a:r>
              <a:rPr lang="nl">
                <a:solidFill>
                  <a:schemeClr val="dk1"/>
                </a:solidFill>
              </a:rPr>
              <a:t>Introductie</a:t>
            </a:r>
            <a:endParaRPr>
              <a:solidFill>
                <a:schemeClr val="dk1"/>
              </a:solidFill>
            </a:endParaRPr>
          </a:p>
          <a:p>
            <a:pPr indent="-342900" lvl="0" marL="457200" rtl="0" algn="l">
              <a:spcBef>
                <a:spcPts val="0"/>
              </a:spcBef>
              <a:spcAft>
                <a:spcPts val="0"/>
              </a:spcAft>
              <a:buClr>
                <a:schemeClr val="dk1"/>
              </a:buClr>
              <a:buSzPts val="1800"/>
              <a:buChar char="-"/>
            </a:pPr>
            <a:r>
              <a:rPr lang="nl">
                <a:solidFill>
                  <a:schemeClr val="dk1"/>
                </a:solidFill>
              </a:rPr>
              <a:t>Eisen</a:t>
            </a:r>
            <a:endParaRPr>
              <a:solidFill>
                <a:schemeClr val="dk1"/>
              </a:solidFill>
            </a:endParaRPr>
          </a:p>
          <a:p>
            <a:pPr indent="-342900" lvl="0" marL="457200" rtl="0" algn="l">
              <a:spcBef>
                <a:spcPts val="0"/>
              </a:spcBef>
              <a:spcAft>
                <a:spcPts val="0"/>
              </a:spcAft>
              <a:buClr>
                <a:schemeClr val="dk1"/>
              </a:buClr>
              <a:buSzPts val="1800"/>
              <a:buChar char="-"/>
            </a:pPr>
            <a:r>
              <a:rPr b="1" lang="nl">
                <a:solidFill>
                  <a:schemeClr val="dk1"/>
                </a:solidFill>
              </a:rPr>
              <a:t>Ranking</a:t>
            </a:r>
            <a:endParaRPr b="1">
              <a:solidFill>
                <a:schemeClr val="dk1"/>
              </a:solidFill>
            </a:endParaRPr>
          </a:p>
          <a:p>
            <a:pPr indent="-317500" lvl="1" marL="914400" rtl="0" algn="l">
              <a:spcBef>
                <a:spcPts val="0"/>
              </a:spcBef>
              <a:spcAft>
                <a:spcPts val="0"/>
              </a:spcAft>
              <a:buClr>
                <a:schemeClr val="dk1"/>
              </a:buClr>
              <a:buSzPts val="1400"/>
              <a:buChar char="-"/>
            </a:pPr>
            <a:r>
              <a:rPr b="1" lang="nl">
                <a:solidFill>
                  <a:schemeClr val="dk1"/>
                </a:solidFill>
              </a:rPr>
              <a:t>Persoonsgericht</a:t>
            </a:r>
            <a:endParaRPr b="1">
              <a:solidFill>
                <a:schemeClr val="dk1"/>
              </a:solidFill>
            </a:endParaRPr>
          </a:p>
          <a:p>
            <a:pPr indent="-317500" lvl="1" marL="914400" rtl="0" algn="l">
              <a:spcBef>
                <a:spcPts val="0"/>
              </a:spcBef>
              <a:spcAft>
                <a:spcPts val="0"/>
              </a:spcAft>
              <a:buClr>
                <a:schemeClr val="dk1"/>
              </a:buClr>
              <a:buSzPts val="1400"/>
              <a:buChar char="-"/>
            </a:pPr>
            <a:r>
              <a:rPr b="1" lang="nl">
                <a:solidFill>
                  <a:schemeClr val="dk1"/>
                </a:solidFill>
              </a:rPr>
              <a:t>Expliciet maken</a:t>
            </a:r>
            <a:endParaRPr b="1">
              <a:solidFill>
                <a:schemeClr val="dk1"/>
              </a:solidFill>
            </a:endParaRPr>
          </a:p>
          <a:p>
            <a:pPr indent="-317500" lvl="1" marL="914400" rtl="0" algn="l">
              <a:spcBef>
                <a:spcPts val="0"/>
              </a:spcBef>
              <a:spcAft>
                <a:spcPts val="0"/>
              </a:spcAft>
              <a:buClr>
                <a:schemeClr val="dk1"/>
              </a:buClr>
              <a:buSzPts val="1400"/>
              <a:buChar char="-"/>
            </a:pPr>
            <a:r>
              <a:rPr b="1" lang="nl">
                <a:solidFill>
                  <a:schemeClr val="dk1"/>
                </a:solidFill>
              </a:rPr>
              <a:t>Vertrouwen opbouwen</a:t>
            </a:r>
            <a:endParaRPr b="1">
              <a:solidFill>
                <a:schemeClr val="dk1"/>
              </a:solidFill>
            </a:endParaRPr>
          </a:p>
          <a:p>
            <a:pPr indent="-317500" lvl="1" marL="914400" rtl="0" algn="l">
              <a:spcBef>
                <a:spcPts val="0"/>
              </a:spcBef>
              <a:spcAft>
                <a:spcPts val="0"/>
              </a:spcAft>
              <a:buClr>
                <a:schemeClr val="dk1"/>
              </a:buClr>
              <a:buSzPts val="1400"/>
              <a:buChar char="-"/>
            </a:pPr>
            <a:r>
              <a:rPr b="1" lang="nl">
                <a:solidFill>
                  <a:schemeClr val="dk1"/>
                </a:solidFill>
              </a:rPr>
              <a:t>Technische randvoorwaarden</a:t>
            </a:r>
            <a:endParaRPr b="1">
              <a:solidFill>
                <a:schemeClr val="dk1"/>
              </a:solidFill>
            </a:endParaRPr>
          </a:p>
          <a:p>
            <a:pPr indent="-342900" lvl="0" marL="457200" rtl="0" algn="l">
              <a:spcBef>
                <a:spcPts val="0"/>
              </a:spcBef>
              <a:spcAft>
                <a:spcPts val="0"/>
              </a:spcAft>
              <a:buClr>
                <a:schemeClr val="dk1"/>
              </a:buClr>
              <a:buSzPts val="1800"/>
              <a:buChar char="-"/>
            </a:pPr>
            <a:r>
              <a:rPr b="1" lang="nl">
                <a:solidFill>
                  <a:schemeClr val="dk1"/>
                </a:solidFill>
              </a:rPr>
              <a:t>Uiterlijk</a:t>
            </a:r>
            <a:endParaRPr b="1">
              <a:solidFill>
                <a:schemeClr val="dk1"/>
              </a:solidFill>
            </a:endParaRPr>
          </a:p>
          <a:p>
            <a:pPr indent="-317500" lvl="1" marL="914400" rtl="0" algn="l">
              <a:spcBef>
                <a:spcPts val="0"/>
              </a:spcBef>
              <a:spcAft>
                <a:spcPts val="0"/>
              </a:spcAft>
              <a:buClr>
                <a:schemeClr val="dk1"/>
              </a:buClr>
              <a:buSzPts val="1400"/>
              <a:buChar char="-"/>
            </a:pPr>
            <a:r>
              <a:rPr b="1" lang="nl">
                <a:solidFill>
                  <a:schemeClr val="dk1"/>
                </a:solidFill>
              </a:rPr>
              <a:t>Titel </a:t>
            </a:r>
            <a:r>
              <a:rPr b="1" lang="nl">
                <a:solidFill>
                  <a:schemeClr val="dk1"/>
                </a:solidFill>
              </a:rPr>
              <a:t>en</a:t>
            </a:r>
            <a:r>
              <a:rPr b="1" lang="nl">
                <a:solidFill>
                  <a:schemeClr val="dk1"/>
                </a:solidFill>
              </a:rPr>
              <a:t> beschrijving</a:t>
            </a:r>
            <a:endParaRPr b="1">
              <a:solidFill>
                <a:schemeClr val="dk1"/>
              </a:solidFill>
            </a:endParaRPr>
          </a:p>
          <a:p>
            <a:pPr indent="-317500" lvl="1" marL="914400" rtl="0" algn="l">
              <a:spcBef>
                <a:spcPts val="0"/>
              </a:spcBef>
              <a:spcAft>
                <a:spcPts val="0"/>
              </a:spcAft>
              <a:buClr>
                <a:schemeClr val="dk1"/>
              </a:buClr>
              <a:buSzPts val="1400"/>
              <a:buChar char="-"/>
            </a:pPr>
            <a:r>
              <a:rPr b="1" lang="nl">
                <a:solidFill>
                  <a:schemeClr val="dk1"/>
                </a:solidFill>
              </a:rPr>
              <a:t>Classificaties </a:t>
            </a:r>
            <a:r>
              <a:rPr b="1" lang="nl"/>
              <a:t>(structured data)</a:t>
            </a:r>
            <a:endParaRPr b="1"/>
          </a:p>
          <a:p>
            <a:pPr indent="-317500" lvl="1" marL="914400" rtl="0" algn="l">
              <a:spcBef>
                <a:spcPts val="0"/>
              </a:spcBef>
              <a:spcAft>
                <a:spcPts val="0"/>
              </a:spcAft>
              <a:buClr>
                <a:schemeClr val="dk1"/>
              </a:buClr>
              <a:buSzPts val="1400"/>
              <a:buChar char="-"/>
            </a:pPr>
            <a:r>
              <a:rPr b="1" lang="nl">
                <a:solidFill>
                  <a:schemeClr val="dk1"/>
                </a:solidFill>
              </a:rPr>
              <a:t>Social media</a:t>
            </a:r>
            <a:r>
              <a:rPr b="1" lang="nl"/>
              <a:t> (Open graph)</a:t>
            </a:r>
            <a:endParaRPr b="1"/>
          </a:p>
          <a:p>
            <a:pPr indent="-342900" lvl="0" marL="457200" rtl="0" algn="l">
              <a:spcBef>
                <a:spcPts val="0"/>
              </a:spcBef>
              <a:spcAft>
                <a:spcPts val="0"/>
              </a:spcAft>
              <a:buClr>
                <a:schemeClr val="dk1"/>
              </a:buClr>
              <a:buSzPts val="1800"/>
              <a:buChar char="-"/>
            </a:pPr>
            <a:r>
              <a:rPr lang="nl">
                <a:solidFill>
                  <a:schemeClr val="dk1"/>
                </a:solidFill>
              </a:rPr>
              <a:t>AI…</a:t>
            </a:r>
            <a:endParaRPr>
              <a:solidFill>
                <a:schemeClr val="dk1"/>
              </a:solidFill>
            </a:endParaRPr>
          </a:p>
          <a:p>
            <a:pPr indent="-342900" lvl="0" marL="457200" rtl="0" algn="l">
              <a:spcBef>
                <a:spcPts val="0"/>
              </a:spcBef>
              <a:spcAft>
                <a:spcPts val="0"/>
              </a:spcAft>
              <a:buSzPts val="1800"/>
              <a:buChar char="-"/>
            </a:pPr>
            <a:r>
              <a:rPr lang="nl"/>
              <a:t>Referenties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nl"/>
              <a:t>Introductie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nl"/>
              <a:t>SEO, </a:t>
            </a:r>
            <a:r>
              <a:rPr lang="nl">
                <a:solidFill>
                  <a:schemeClr val="lt2"/>
                </a:solidFill>
              </a:rPr>
              <a:t>is het</a:t>
            </a:r>
            <a:r>
              <a:rPr lang="nl"/>
              <a:t> verbeteren </a:t>
            </a:r>
            <a:r>
              <a:rPr lang="nl">
                <a:solidFill>
                  <a:schemeClr val="lt2"/>
                </a:solidFill>
              </a:rPr>
              <a:t>van de</a:t>
            </a:r>
            <a:r>
              <a:rPr lang="nl"/>
              <a:t> zichtbaarheid en prestaties </a:t>
            </a:r>
            <a:r>
              <a:rPr lang="nl">
                <a:solidFill>
                  <a:schemeClr val="lt2"/>
                </a:solidFill>
              </a:rPr>
              <a:t>van </a:t>
            </a:r>
            <a:r>
              <a:rPr lang="nl"/>
              <a:t>pagina’s op zoekmachines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Introductie</a:t>
            </a:r>
            <a:endParaRPr/>
          </a:p>
        </p:txBody>
      </p:sp>
      <p:sp>
        <p:nvSpPr>
          <p:cNvPr id="78" name="Google Shape;7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nl">
                <a:solidFill>
                  <a:schemeClr val="dk1"/>
                </a:solidFill>
              </a:rPr>
              <a:t>Gratis</a:t>
            </a:r>
            <a:endParaRPr>
              <a:solidFill>
                <a:schemeClr val="dk1"/>
              </a:solidFill>
            </a:endParaRPr>
          </a:p>
          <a:p>
            <a:pPr indent="-342900" lvl="0" marL="457200" rtl="0" algn="l">
              <a:spcBef>
                <a:spcPts val="0"/>
              </a:spcBef>
              <a:spcAft>
                <a:spcPts val="0"/>
              </a:spcAft>
              <a:buClr>
                <a:schemeClr val="dk1"/>
              </a:buClr>
              <a:buSzPts val="1800"/>
              <a:buChar char="-"/>
            </a:pPr>
            <a:r>
              <a:rPr lang="nl">
                <a:solidFill>
                  <a:schemeClr val="dk1"/>
                </a:solidFill>
              </a:rPr>
              <a:t>Zoekbaar</a:t>
            </a:r>
            <a:endParaRPr>
              <a:solidFill>
                <a:schemeClr val="dk1"/>
              </a:solidFill>
            </a:endParaRPr>
          </a:p>
          <a:p>
            <a:pPr indent="-342900" lvl="0" marL="457200" rtl="0" algn="l">
              <a:spcBef>
                <a:spcPts val="0"/>
              </a:spcBef>
              <a:spcAft>
                <a:spcPts val="0"/>
              </a:spcAft>
              <a:buClr>
                <a:schemeClr val="dk1"/>
              </a:buClr>
              <a:buSzPts val="1800"/>
              <a:buChar char="-"/>
            </a:pPr>
            <a:r>
              <a:rPr lang="nl">
                <a:solidFill>
                  <a:schemeClr val="dk1"/>
                </a:solidFill>
              </a:rPr>
              <a:t>Indexering </a:t>
            </a:r>
            <a:r>
              <a:rPr lang="nl">
                <a:solidFill>
                  <a:schemeClr val="dk1"/>
                </a:solidFill>
              </a:rPr>
              <a:t>-&gt;</a:t>
            </a:r>
            <a:r>
              <a:rPr lang="nl">
                <a:solidFill>
                  <a:schemeClr val="dk1"/>
                </a:solidFill>
              </a:rPr>
              <a:t> ranking</a:t>
            </a:r>
            <a:endParaRPr>
              <a:solidFill>
                <a:schemeClr val="dk1"/>
              </a:solidFill>
            </a:endParaRPr>
          </a:p>
          <a:p>
            <a:pPr indent="-342900" lvl="0" marL="457200" rtl="0" algn="l">
              <a:spcBef>
                <a:spcPts val="0"/>
              </a:spcBef>
              <a:spcAft>
                <a:spcPts val="0"/>
              </a:spcAft>
              <a:buClr>
                <a:schemeClr val="dk1"/>
              </a:buClr>
              <a:buSzPts val="1800"/>
              <a:buChar char="-"/>
            </a:pPr>
            <a:r>
              <a:rPr lang="nl">
                <a:solidFill>
                  <a:schemeClr val="dk1"/>
                </a:solidFill>
              </a:rPr>
              <a:t>Crawlen -&gt; ontdekking</a:t>
            </a:r>
            <a:endParaRPr>
              <a:solidFill>
                <a:schemeClr val="dk1"/>
              </a:solidFill>
            </a:endParaRPr>
          </a:p>
          <a:p>
            <a:pPr indent="-317500" lvl="1" marL="914400" rtl="0" algn="l">
              <a:spcBef>
                <a:spcPts val="0"/>
              </a:spcBef>
              <a:spcAft>
                <a:spcPts val="0"/>
              </a:spcAft>
              <a:buSzPts val="1400"/>
              <a:buChar char="-"/>
            </a:pPr>
            <a:r>
              <a:rPr lang="nl"/>
              <a:t>of, </a:t>
            </a:r>
            <a:r>
              <a:rPr lang="nl">
                <a:solidFill>
                  <a:schemeClr val="dk1"/>
                </a:solidFill>
              </a:rPr>
              <a:t>handmatig sitemap</a:t>
            </a:r>
            <a:r>
              <a:rPr lang="nl"/>
              <a:t> aanleveren</a:t>
            </a:r>
            <a:endParaRPr/>
          </a:p>
        </p:txBody>
      </p:sp>
      <p:pic>
        <p:nvPicPr>
          <p:cNvPr id="79" name="Google Shape;79;p17"/>
          <p:cNvPicPr preferRelativeResize="0"/>
          <p:nvPr/>
        </p:nvPicPr>
        <p:blipFill>
          <a:blip r:embed="rId3">
            <a:alphaModFix/>
          </a:blip>
          <a:stretch>
            <a:fillRect/>
          </a:stretch>
        </p:blipFill>
        <p:spPr>
          <a:xfrm>
            <a:off x="4496950" y="1363950"/>
            <a:ext cx="4183949" cy="23534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Eisen</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nl">
                <a:solidFill>
                  <a:schemeClr val="dk1"/>
                </a:solidFill>
              </a:rPr>
              <a:t>Crawlers niet geblokkeerd</a:t>
            </a:r>
            <a:endParaRPr>
              <a:solidFill>
                <a:schemeClr val="dk1"/>
              </a:solidFill>
            </a:endParaRPr>
          </a:p>
          <a:p>
            <a:pPr indent="-342900" lvl="0" marL="457200" rtl="0" algn="l">
              <a:spcBef>
                <a:spcPts val="0"/>
              </a:spcBef>
              <a:spcAft>
                <a:spcPts val="0"/>
              </a:spcAft>
              <a:buClr>
                <a:schemeClr val="dk1"/>
              </a:buClr>
              <a:buSzPts val="1800"/>
              <a:buChar char="-"/>
            </a:pPr>
            <a:r>
              <a:rPr lang="nl">
                <a:solidFill>
                  <a:schemeClr val="dk1"/>
                </a:solidFill>
              </a:rPr>
              <a:t>Functioneel</a:t>
            </a:r>
            <a:endParaRPr>
              <a:solidFill>
                <a:schemeClr val="dk1"/>
              </a:solidFill>
            </a:endParaRPr>
          </a:p>
          <a:p>
            <a:pPr indent="-342900" lvl="0" marL="457200" rtl="0" algn="l">
              <a:spcBef>
                <a:spcPts val="0"/>
              </a:spcBef>
              <a:spcAft>
                <a:spcPts val="0"/>
              </a:spcAft>
              <a:buClr>
                <a:schemeClr val="dk1"/>
              </a:buClr>
              <a:buSzPts val="1800"/>
              <a:buChar char="-"/>
            </a:pPr>
            <a:r>
              <a:rPr lang="nl">
                <a:solidFill>
                  <a:schemeClr val="dk1"/>
                </a:solidFill>
              </a:rPr>
              <a:t>Indexeerbaar</a:t>
            </a:r>
            <a:endParaRPr>
              <a:solidFill>
                <a:schemeClr val="dk1"/>
              </a:solidFill>
            </a:endParaRPr>
          </a:p>
          <a:p>
            <a:pPr indent="0" lvl="0" marL="0" rtl="0" algn="l">
              <a:spcBef>
                <a:spcPts val="1200"/>
              </a:spcBef>
              <a:spcAft>
                <a:spcPts val="0"/>
              </a:spcAft>
              <a:buNone/>
            </a:pPr>
            <a:r>
              <a:t/>
            </a:r>
            <a:endParaRPr/>
          </a:p>
          <a:p>
            <a:pPr indent="-330200" lvl="0" marL="457200" rtl="0" algn="l">
              <a:spcBef>
                <a:spcPts val="1200"/>
              </a:spcBef>
              <a:spcAft>
                <a:spcPts val="0"/>
              </a:spcAft>
              <a:buSzPts val="1600"/>
              <a:buChar char="-"/>
            </a:pPr>
            <a:r>
              <a:rPr lang="nl" sz="1600"/>
              <a:t>(soms is indexatie juist ongewenst)</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nl"/>
              <a:t>Ranking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Ranking — </a:t>
            </a:r>
            <a:r>
              <a:rPr lang="nl"/>
              <a:t>Persoonsgericht</a:t>
            </a:r>
            <a:endParaRPr/>
          </a:p>
        </p:txBody>
      </p:sp>
      <p:sp>
        <p:nvSpPr>
          <p:cNvPr id="96" name="Google Shape;96;p20"/>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nl"/>
              <a:t>Algoritme geheim, </a:t>
            </a:r>
            <a:r>
              <a:rPr lang="nl">
                <a:solidFill>
                  <a:schemeClr val="dk1"/>
                </a:solidFill>
              </a:rPr>
              <a:t>feedback guidelines openlijk</a:t>
            </a:r>
            <a:endParaRPr>
              <a:solidFill>
                <a:schemeClr val="dk1"/>
              </a:solidFill>
            </a:endParaRPr>
          </a:p>
          <a:p>
            <a:pPr indent="-317500" lvl="0" marL="457200" rtl="0" algn="l">
              <a:spcBef>
                <a:spcPts val="0"/>
              </a:spcBef>
              <a:spcAft>
                <a:spcPts val="0"/>
              </a:spcAft>
              <a:buClr>
                <a:schemeClr val="dk1"/>
              </a:buClr>
              <a:buSzPts val="1400"/>
              <a:buChar char="-"/>
            </a:pPr>
            <a:r>
              <a:rPr lang="nl">
                <a:solidFill>
                  <a:schemeClr val="dk1"/>
                </a:solidFill>
              </a:rPr>
              <a:t>Ontwerp naar gebruikers</a:t>
            </a:r>
            <a:r>
              <a:rPr lang="nl"/>
              <a:t>, niet zoekmachines</a:t>
            </a:r>
            <a:endParaRPr/>
          </a:p>
          <a:p>
            <a:pPr indent="-304800" lvl="1" marL="914400" rtl="0" algn="l">
              <a:spcBef>
                <a:spcPts val="0"/>
              </a:spcBef>
              <a:spcAft>
                <a:spcPts val="0"/>
              </a:spcAft>
              <a:buSzPts val="1200"/>
              <a:buChar char="-"/>
            </a:pPr>
            <a:r>
              <a:rPr lang="nl"/>
              <a:t>anders straffen</a:t>
            </a:r>
            <a:endParaRPr/>
          </a:p>
          <a:p>
            <a:pPr indent="-317500" lvl="0" marL="457200" rtl="0" algn="l">
              <a:spcBef>
                <a:spcPts val="0"/>
              </a:spcBef>
              <a:spcAft>
                <a:spcPts val="0"/>
              </a:spcAft>
              <a:buClr>
                <a:schemeClr val="dk1"/>
              </a:buClr>
              <a:buSzPts val="1400"/>
              <a:buChar char="-"/>
            </a:pPr>
            <a:r>
              <a:rPr b="1" lang="nl">
                <a:solidFill>
                  <a:schemeClr val="dk1"/>
                </a:solidFill>
              </a:rPr>
              <a:t>Pagina kwaliteit: </a:t>
            </a:r>
            <a:endParaRPr b="1">
              <a:solidFill>
                <a:schemeClr val="dk1"/>
              </a:solidFill>
            </a:endParaRPr>
          </a:p>
          <a:p>
            <a:pPr indent="-304800" lvl="1" marL="914400" rtl="0" algn="l">
              <a:spcBef>
                <a:spcPts val="0"/>
              </a:spcBef>
              <a:spcAft>
                <a:spcPts val="0"/>
              </a:spcAft>
              <a:buClr>
                <a:schemeClr val="dk1"/>
              </a:buClr>
              <a:buSzPts val="1200"/>
              <a:buChar char="-"/>
            </a:pPr>
            <a:r>
              <a:rPr b="1" lang="nl">
                <a:solidFill>
                  <a:schemeClr val="dk1"/>
                </a:solidFill>
              </a:rPr>
              <a:t>Ervaring</a:t>
            </a:r>
            <a:endParaRPr b="1">
              <a:solidFill>
                <a:schemeClr val="dk1"/>
              </a:solidFill>
            </a:endParaRPr>
          </a:p>
          <a:p>
            <a:pPr indent="-304800" lvl="1" marL="914400" rtl="0" algn="l">
              <a:spcBef>
                <a:spcPts val="0"/>
              </a:spcBef>
              <a:spcAft>
                <a:spcPts val="0"/>
              </a:spcAft>
              <a:buClr>
                <a:schemeClr val="dk1"/>
              </a:buClr>
              <a:buSzPts val="1200"/>
              <a:buChar char="-"/>
            </a:pPr>
            <a:r>
              <a:rPr b="1" lang="nl">
                <a:solidFill>
                  <a:schemeClr val="dk1"/>
                </a:solidFill>
              </a:rPr>
              <a:t>Expertise</a:t>
            </a:r>
            <a:endParaRPr b="1">
              <a:solidFill>
                <a:schemeClr val="dk1"/>
              </a:solidFill>
            </a:endParaRPr>
          </a:p>
          <a:p>
            <a:pPr indent="-304800" lvl="1" marL="914400" rtl="0" algn="l">
              <a:spcBef>
                <a:spcPts val="0"/>
              </a:spcBef>
              <a:spcAft>
                <a:spcPts val="0"/>
              </a:spcAft>
              <a:buClr>
                <a:schemeClr val="dk1"/>
              </a:buClr>
              <a:buSzPts val="1200"/>
              <a:buChar char="-"/>
            </a:pPr>
            <a:r>
              <a:rPr b="1" lang="nl">
                <a:solidFill>
                  <a:schemeClr val="dk1"/>
                </a:solidFill>
              </a:rPr>
              <a:t>Autoriteit</a:t>
            </a:r>
            <a:endParaRPr b="1">
              <a:solidFill>
                <a:schemeClr val="dk1"/>
              </a:solidFill>
            </a:endParaRPr>
          </a:p>
          <a:p>
            <a:pPr indent="-304800" lvl="1" marL="914400" rtl="0" algn="l">
              <a:spcBef>
                <a:spcPts val="0"/>
              </a:spcBef>
              <a:spcAft>
                <a:spcPts val="0"/>
              </a:spcAft>
              <a:buClr>
                <a:schemeClr val="dk1"/>
              </a:buClr>
              <a:buSzPts val="1200"/>
              <a:buChar char="-"/>
            </a:pPr>
            <a:r>
              <a:rPr b="1" lang="nl">
                <a:solidFill>
                  <a:schemeClr val="dk1"/>
                </a:solidFill>
              </a:rPr>
              <a:t>Vertrouwen</a:t>
            </a:r>
            <a:endParaRPr b="1">
              <a:solidFill>
                <a:schemeClr val="dk1"/>
              </a:solidFill>
            </a:endParaRPr>
          </a:p>
        </p:txBody>
      </p:sp>
      <p:sp>
        <p:nvSpPr>
          <p:cNvPr id="97" name="Google Shape;97;p20"/>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Ranking — Expliciet maken</a:t>
            </a:r>
            <a:endParaRPr/>
          </a:p>
        </p:txBody>
      </p:sp>
      <p:sp>
        <p:nvSpPr>
          <p:cNvPr id="103" name="Google Shape;103;p21"/>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nl">
                <a:solidFill>
                  <a:schemeClr val="dk1"/>
                </a:solidFill>
              </a:rPr>
              <a:t>Bots onthalen andere betekenis dan mensen -&gt; expliciet maken</a:t>
            </a:r>
            <a:endParaRPr>
              <a:solidFill>
                <a:schemeClr val="dk1"/>
              </a:solidFill>
            </a:endParaRPr>
          </a:p>
          <a:p>
            <a:pPr indent="-317500" lvl="0" marL="457200" rtl="0" algn="l">
              <a:spcBef>
                <a:spcPts val="0"/>
              </a:spcBef>
              <a:spcAft>
                <a:spcPts val="0"/>
              </a:spcAft>
              <a:buClr>
                <a:schemeClr val="dk1"/>
              </a:buClr>
              <a:buSzPts val="1400"/>
              <a:buChar char="-"/>
            </a:pPr>
            <a:r>
              <a:rPr b="1" lang="nl">
                <a:solidFill>
                  <a:schemeClr val="dk1"/>
                </a:solidFill>
              </a:rPr>
              <a:t>Titel en beschrijving</a:t>
            </a:r>
            <a:endParaRPr b="1">
              <a:solidFill>
                <a:schemeClr val="dk1"/>
              </a:solidFill>
            </a:endParaRPr>
          </a:p>
          <a:p>
            <a:pPr indent="-317500" lvl="0" marL="457200" rtl="0" algn="l">
              <a:spcBef>
                <a:spcPts val="0"/>
              </a:spcBef>
              <a:spcAft>
                <a:spcPts val="0"/>
              </a:spcAft>
              <a:buClr>
                <a:schemeClr val="dk1"/>
              </a:buClr>
              <a:buSzPts val="1400"/>
              <a:buChar char="-"/>
            </a:pPr>
            <a:r>
              <a:rPr b="1" lang="nl">
                <a:solidFill>
                  <a:schemeClr val="dk1"/>
                </a:solidFill>
              </a:rPr>
              <a:t>Semantische elementen </a:t>
            </a:r>
            <a:r>
              <a:rPr lang="nl"/>
              <a:t>voor inhoud</a:t>
            </a:r>
            <a:endParaRPr/>
          </a:p>
          <a:p>
            <a:pPr indent="-317500" lvl="0" marL="457200" rtl="0" algn="l">
              <a:spcBef>
                <a:spcPts val="0"/>
              </a:spcBef>
              <a:spcAft>
                <a:spcPts val="0"/>
              </a:spcAft>
              <a:buClr>
                <a:schemeClr val="dk1"/>
              </a:buClr>
              <a:buSzPts val="1400"/>
              <a:buChar char="-"/>
            </a:pPr>
            <a:r>
              <a:rPr b="1" lang="nl">
                <a:solidFill>
                  <a:schemeClr val="dk1"/>
                </a:solidFill>
              </a:rPr>
              <a:t>Beschrijf </a:t>
            </a:r>
            <a:r>
              <a:rPr b="1" lang="nl"/>
              <a:t>inhoudelijke</a:t>
            </a:r>
            <a:r>
              <a:rPr b="1" lang="nl">
                <a:solidFill>
                  <a:schemeClr val="dk1"/>
                </a:solidFill>
              </a:rPr>
              <a:t> foto’s &amp; video’s</a:t>
            </a:r>
            <a:endParaRPr b="1">
              <a:solidFill>
                <a:schemeClr val="dk1"/>
              </a:solidFill>
            </a:endParaRPr>
          </a:p>
        </p:txBody>
      </p:sp>
      <p:sp>
        <p:nvSpPr>
          <p:cNvPr id="104" name="Google Shape;104;p2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5" name="Google Shape;105;p21"/>
          <p:cNvPicPr preferRelativeResize="0"/>
          <p:nvPr/>
        </p:nvPicPr>
        <p:blipFill>
          <a:blip r:embed="rId3">
            <a:alphaModFix/>
          </a:blip>
          <a:stretch>
            <a:fillRect/>
          </a:stretch>
        </p:blipFill>
        <p:spPr>
          <a:xfrm>
            <a:off x="4832400" y="528375"/>
            <a:ext cx="3921850" cy="1331475"/>
          </a:xfrm>
          <a:prstGeom prst="rect">
            <a:avLst/>
          </a:prstGeom>
          <a:noFill/>
          <a:ln>
            <a:noFill/>
          </a:ln>
        </p:spPr>
      </p:pic>
      <p:pic>
        <p:nvPicPr>
          <p:cNvPr id="106" name="Google Shape;106;p21"/>
          <p:cNvPicPr preferRelativeResize="0"/>
          <p:nvPr/>
        </p:nvPicPr>
        <p:blipFill>
          <a:blip r:embed="rId4">
            <a:alphaModFix/>
          </a:blip>
          <a:stretch>
            <a:fillRect/>
          </a:stretch>
        </p:blipFill>
        <p:spPr>
          <a:xfrm>
            <a:off x="4142050" y="1922550"/>
            <a:ext cx="4944649" cy="21724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nl"/>
              <a:t>Doe zelf ofzo?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Ranking — Vertrouwen opbouwen  </a:t>
            </a:r>
            <a:endParaRPr/>
          </a:p>
        </p:txBody>
      </p:sp>
      <p:sp>
        <p:nvSpPr>
          <p:cNvPr id="117" name="Google Shape;117;p23"/>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nl">
                <a:solidFill>
                  <a:schemeClr val="dk1"/>
                </a:solidFill>
              </a:rPr>
              <a:t>Interne links: A -&gt; A</a:t>
            </a:r>
            <a:endParaRPr>
              <a:solidFill>
                <a:schemeClr val="dk1"/>
              </a:solidFill>
            </a:endParaRPr>
          </a:p>
          <a:p>
            <a:pPr indent="-304800" lvl="1" marL="914400" rtl="0" algn="l">
              <a:spcBef>
                <a:spcPts val="0"/>
              </a:spcBef>
              <a:spcAft>
                <a:spcPts val="0"/>
              </a:spcAft>
              <a:buSzPts val="1200"/>
              <a:buChar char="-"/>
            </a:pPr>
            <a:r>
              <a:rPr lang="nl"/>
              <a:t>autoriteit opbouwen</a:t>
            </a:r>
            <a:endParaRPr/>
          </a:p>
          <a:p>
            <a:pPr indent="-317500" lvl="0" marL="457200" rtl="0" algn="l">
              <a:spcBef>
                <a:spcPts val="0"/>
              </a:spcBef>
              <a:spcAft>
                <a:spcPts val="0"/>
              </a:spcAft>
              <a:buClr>
                <a:schemeClr val="dk1"/>
              </a:buClr>
              <a:buSzPts val="1400"/>
              <a:buChar char="-"/>
            </a:pPr>
            <a:r>
              <a:rPr lang="nl">
                <a:solidFill>
                  <a:schemeClr val="dk1"/>
                </a:solidFill>
              </a:rPr>
              <a:t>Externe links: A -&gt; B</a:t>
            </a:r>
            <a:endParaRPr>
              <a:solidFill>
                <a:schemeClr val="dk1"/>
              </a:solidFill>
            </a:endParaRPr>
          </a:p>
          <a:p>
            <a:pPr indent="-304800" lvl="1" marL="914400" rtl="0" algn="l">
              <a:spcBef>
                <a:spcPts val="0"/>
              </a:spcBef>
              <a:spcAft>
                <a:spcPts val="0"/>
              </a:spcAft>
              <a:buSzPts val="1200"/>
              <a:buChar char="-"/>
            </a:pPr>
            <a:r>
              <a:rPr lang="nl"/>
              <a:t>mutualistisch autoriteit opbouwen</a:t>
            </a:r>
            <a:endParaRPr/>
          </a:p>
          <a:p>
            <a:pPr indent="-317500" lvl="0" marL="457200" rtl="0" algn="l">
              <a:spcBef>
                <a:spcPts val="0"/>
              </a:spcBef>
              <a:spcAft>
                <a:spcPts val="0"/>
              </a:spcAft>
              <a:buClr>
                <a:schemeClr val="dk1"/>
              </a:buClr>
              <a:buSzPts val="1400"/>
              <a:buChar char="-"/>
            </a:pPr>
            <a:r>
              <a:rPr b="1" lang="nl">
                <a:solidFill>
                  <a:schemeClr val="dk1"/>
                </a:solidFill>
              </a:rPr>
              <a:t>Backlinks: B -&gt; A</a:t>
            </a:r>
            <a:endParaRPr b="1">
              <a:solidFill>
                <a:schemeClr val="dk1"/>
              </a:solidFill>
            </a:endParaRPr>
          </a:p>
          <a:p>
            <a:pPr indent="-304800" lvl="1" marL="914400" rtl="0" algn="l">
              <a:spcBef>
                <a:spcPts val="0"/>
              </a:spcBef>
              <a:spcAft>
                <a:spcPts val="0"/>
              </a:spcAft>
              <a:buSzPts val="1200"/>
              <a:buChar char="-"/>
            </a:pPr>
            <a:r>
              <a:rPr lang="nl"/>
              <a:t>autoriteit lenen</a:t>
            </a:r>
            <a:endParaRPr/>
          </a:p>
        </p:txBody>
      </p:sp>
      <p:sp>
        <p:nvSpPr>
          <p:cNvPr id="118" name="Google Shape;118;p23"/>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nl"/>
              <a:t>Welk platform zou jou als bron vertrouwen?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nl"/>
              <a:t>Technische randvoorwaarden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Technische randvoorwaarden</a:t>
            </a:r>
            <a:endParaRPr/>
          </a:p>
        </p:txBody>
      </p:sp>
      <p:sp>
        <p:nvSpPr>
          <p:cNvPr id="134" name="Google Shape;134;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nl">
                <a:solidFill>
                  <a:schemeClr val="dk1"/>
                </a:solidFill>
              </a:rPr>
              <a:t>Veiligheid</a:t>
            </a:r>
            <a:endParaRPr>
              <a:solidFill>
                <a:schemeClr val="dk1"/>
              </a:solidFill>
            </a:endParaRPr>
          </a:p>
          <a:p>
            <a:pPr indent="-342900" lvl="0" marL="457200" rtl="0" algn="l">
              <a:spcBef>
                <a:spcPts val="0"/>
              </a:spcBef>
              <a:spcAft>
                <a:spcPts val="0"/>
              </a:spcAft>
              <a:buClr>
                <a:schemeClr val="dk1"/>
              </a:buClr>
              <a:buSzPts val="1800"/>
              <a:buChar char="-"/>
            </a:pPr>
            <a:r>
              <a:rPr lang="nl">
                <a:solidFill>
                  <a:schemeClr val="dk1"/>
                </a:solidFill>
              </a:rPr>
              <a:t>Snelheid</a:t>
            </a:r>
            <a:endParaRPr>
              <a:solidFill>
                <a:schemeClr val="dk1"/>
              </a:solidFill>
            </a:endParaRPr>
          </a:p>
          <a:p>
            <a:pPr indent="-342900" lvl="0" marL="457200" rtl="0" algn="l">
              <a:spcBef>
                <a:spcPts val="0"/>
              </a:spcBef>
              <a:spcAft>
                <a:spcPts val="0"/>
              </a:spcAft>
              <a:buClr>
                <a:schemeClr val="dk1"/>
              </a:buClr>
              <a:buSzPts val="1800"/>
              <a:buChar char="-"/>
            </a:pPr>
            <a:r>
              <a:rPr lang="nl">
                <a:solidFill>
                  <a:schemeClr val="dk1"/>
                </a:solidFill>
              </a:rPr>
              <a:t>Toegankelijkheid</a:t>
            </a:r>
            <a:endParaRPr>
              <a:solidFill>
                <a:schemeClr val="dk1"/>
              </a:solidFill>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nl"/>
              <a:t>Staat techniek bij jullie in de weg?</a:t>
            </a:r>
            <a:endParaRPr/>
          </a:p>
        </p:txBody>
      </p:sp>
      <p:sp>
        <p:nvSpPr>
          <p:cNvPr id="140" name="Google Shape;140;p27"/>
          <p:cNvSpPr txBox="1"/>
          <p:nvPr/>
        </p:nvSpPr>
        <p:spPr>
          <a:xfrm>
            <a:off x="1815000" y="3984750"/>
            <a:ext cx="55140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nl" sz="1600" u="sng">
                <a:solidFill>
                  <a:schemeClr val="accent5"/>
                </a:solidFill>
                <a:hlinkClick r:id="rId3">
                  <a:extLst>
                    <a:ext uri="{A12FA001-AC4F-418D-AE19-62706E023703}">
                      <ahyp:hlinkClr val="tx"/>
                    </a:ext>
                  </a:extLst>
                </a:hlinkClick>
              </a:rPr>
              <a:t>Geautomatiseerde analyse afnemen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nl"/>
              <a:t>Uiterlijk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Uiterlijk — Titel </a:t>
            </a:r>
            <a:r>
              <a:rPr lang="nl"/>
              <a:t>en</a:t>
            </a:r>
            <a:r>
              <a:rPr lang="nl"/>
              <a:t> beschrijving</a:t>
            </a:r>
            <a:endParaRPr/>
          </a:p>
        </p:txBody>
      </p:sp>
      <p:sp>
        <p:nvSpPr>
          <p:cNvPr id="151" name="Google Shape;151;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nl">
                <a:solidFill>
                  <a:schemeClr val="dk1"/>
                </a:solidFill>
              </a:rPr>
              <a:t>Vaak gebruikt in presenteren zoekresultaat</a:t>
            </a:r>
            <a:endParaRPr b="1">
              <a:solidFill>
                <a:schemeClr val="dk1"/>
              </a:solidFill>
            </a:endParaRPr>
          </a:p>
        </p:txBody>
      </p:sp>
      <p:sp>
        <p:nvSpPr>
          <p:cNvPr id="152" name="Google Shape;152;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3" name="Google Shape;153;p29"/>
          <p:cNvPicPr preferRelativeResize="0"/>
          <p:nvPr/>
        </p:nvPicPr>
        <p:blipFill>
          <a:blip r:embed="rId3">
            <a:alphaModFix/>
          </a:blip>
          <a:stretch>
            <a:fillRect/>
          </a:stretch>
        </p:blipFill>
        <p:spPr>
          <a:xfrm>
            <a:off x="4832405" y="515125"/>
            <a:ext cx="4203995" cy="4113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Uiterlijk — Classificaties</a:t>
            </a:r>
            <a:endParaRPr/>
          </a:p>
        </p:txBody>
      </p:sp>
      <p:sp>
        <p:nvSpPr>
          <p:cNvPr id="159" name="Google Shape;159;p30"/>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nl" u="sng">
                <a:solidFill>
                  <a:schemeClr val="hlink"/>
                </a:solidFill>
                <a:hlinkClick r:id="rId3"/>
              </a:rPr>
              <a:t>Structured data</a:t>
            </a:r>
            <a:endParaRPr b="1">
              <a:solidFill>
                <a:schemeClr val="dk1"/>
              </a:solidFill>
            </a:endParaRPr>
          </a:p>
          <a:p>
            <a:pPr indent="-317500" lvl="0" marL="457200" rtl="0" algn="l">
              <a:spcBef>
                <a:spcPts val="0"/>
              </a:spcBef>
              <a:spcAft>
                <a:spcPts val="0"/>
              </a:spcAft>
              <a:buClr>
                <a:schemeClr val="dk1"/>
              </a:buClr>
              <a:buSzPts val="1400"/>
              <a:buChar char="-"/>
            </a:pPr>
            <a:r>
              <a:rPr lang="nl" u="sng">
                <a:solidFill>
                  <a:schemeClr val="hlink"/>
                </a:solidFill>
                <a:hlinkClick r:id="rId4"/>
              </a:rPr>
              <a:t>Uitproberen</a:t>
            </a:r>
            <a:endParaRPr>
              <a:solidFill>
                <a:schemeClr val="dk1"/>
              </a:solidFill>
            </a:endParaRPr>
          </a:p>
        </p:txBody>
      </p:sp>
      <p:sp>
        <p:nvSpPr>
          <p:cNvPr id="160" name="Google Shape;160;p30"/>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1" name="Google Shape;161;p30"/>
          <p:cNvPicPr preferRelativeResize="0"/>
          <p:nvPr/>
        </p:nvPicPr>
        <p:blipFill>
          <a:blip r:embed="rId5">
            <a:alphaModFix/>
          </a:blip>
          <a:stretch>
            <a:fillRect/>
          </a:stretch>
        </p:blipFill>
        <p:spPr>
          <a:xfrm>
            <a:off x="702574" y="2210350"/>
            <a:ext cx="2288005" cy="2476150"/>
          </a:xfrm>
          <a:prstGeom prst="rect">
            <a:avLst/>
          </a:prstGeom>
          <a:noFill/>
          <a:ln>
            <a:noFill/>
          </a:ln>
        </p:spPr>
      </p:pic>
      <p:pic>
        <p:nvPicPr>
          <p:cNvPr id="162" name="Google Shape;162;p30"/>
          <p:cNvPicPr preferRelativeResize="0"/>
          <p:nvPr/>
        </p:nvPicPr>
        <p:blipFill>
          <a:blip r:embed="rId6">
            <a:alphaModFix/>
          </a:blip>
          <a:stretch>
            <a:fillRect/>
          </a:stretch>
        </p:blipFill>
        <p:spPr>
          <a:xfrm>
            <a:off x="4959775" y="294825"/>
            <a:ext cx="3872526" cy="2676600"/>
          </a:xfrm>
          <a:prstGeom prst="rect">
            <a:avLst/>
          </a:prstGeom>
          <a:noFill/>
          <a:ln>
            <a:noFill/>
          </a:ln>
        </p:spPr>
      </p:pic>
      <p:pic>
        <p:nvPicPr>
          <p:cNvPr id="163" name="Google Shape;163;p30"/>
          <p:cNvPicPr preferRelativeResize="0"/>
          <p:nvPr/>
        </p:nvPicPr>
        <p:blipFill>
          <a:blip r:embed="rId7">
            <a:alphaModFix/>
          </a:blip>
          <a:stretch>
            <a:fillRect/>
          </a:stretch>
        </p:blipFill>
        <p:spPr>
          <a:xfrm>
            <a:off x="3530377" y="2798550"/>
            <a:ext cx="4743924" cy="32788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Uiterlijk — Social Media Integratie</a:t>
            </a:r>
            <a:endParaRPr/>
          </a:p>
        </p:txBody>
      </p:sp>
      <p:sp>
        <p:nvSpPr>
          <p:cNvPr id="169" name="Google Shape;169;p31"/>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nl" u="sng">
                <a:solidFill>
                  <a:schemeClr val="hlink"/>
                </a:solidFill>
                <a:hlinkClick r:id="rId3"/>
              </a:rPr>
              <a:t>Open Graph protocol </a:t>
            </a:r>
            <a:endParaRPr>
              <a:solidFill>
                <a:schemeClr val="dk1"/>
              </a:solidFill>
            </a:endParaRPr>
          </a:p>
        </p:txBody>
      </p:sp>
      <p:sp>
        <p:nvSpPr>
          <p:cNvPr id="170" name="Google Shape;170;p3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1" name="Google Shape;171;p31"/>
          <p:cNvPicPr preferRelativeResize="0"/>
          <p:nvPr/>
        </p:nvPicPr>
        <p:blipFill>
          <a:blip r:embed="rId4">
            <a:alphaModFix/>
          </a:blip>
          <a:stretch>
            <a:fillRect/>
          </a:stretch>
        </p:blipFill>
        <p:spPr>
          <a:xfrm>
            <a:off x="311700" y="2285925"/>
            <a:ext cx="3842699" cy="1777500"/>
          </a:xfrm>
          <a:prstGeom prst="rect">
            <a:avLst/>
          </a:prstGeom>
          <a:noFill/>
          <a:ln>
            <a:noFill/>
          </a:ln>
        </p:spPr>
      </p:pic>
      <p:pic>
        <p:nvPicPr>
          <p:cNvPr id="172" name="Google Shape;172;p31"/>
          <p:cNvPicPr preferRelativeResize="0"/>
          <p:nvPr/>
        </p:nvPicPr>
        <p:blipFill>
          <a:blip r:embed="rId5">
            <a:alphaModFix/>
          </a:blip>
          <a:stretch>
            <a:fillRect/>
          </a:stretch>
        </p:blipFill>
        <p:spPr>
          <a:xfrm>
            <a:off x="5247125" y="1364350"/>
            <a:ext cx="3687900" cy="2992650"/>
          </a:xfrm>
          <a:prstGeom prst="rect">
            <a:avLst/>
          </a:prstGeom>
          <a:noFill/>
          <a:ln>
            <a:noFill/>
          </a:ln>
        </p:spPr>
      </p:pic>
      <p:cxnSp>
        <p:nvCxnSpPr>
          <p:cNvPr id="173" name="Google Shape;173;p31"/>
          <p:cNvCxnSpPr/>
          <p:nvPr/>
        </p:nvCxnSpPr>
        <p:spPr>
          <a:xfrm>
            <a:off x="4299350" y="3058475"/>
            <a:ext cx="728700" cy="12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nl"/>
              <a:t>Al wat ideeën om meer op te vallen?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3"/>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nl"/>
              <a:t>AI?</a:t>
            </a:r>
            <a:endParaRPr/>
          </a:p>
        </p:txBody>
      </p:sp>
      <p:pic>
        <p:nvPicPr>
          <p:cNvPr id="184" name="Google Shape;184;p33"/>
          <p:cNvPicPr preferRelativeResize="0"/>
          <p:nvPr/>
        </p:nvPicPr>
        <p:blipFill>
          <a:blip r:embed="rId3">
            <a:alphaModFix/>
          </a:blip>
          <a:stretch>
            <a:fillRect/>
          </a:stretch>
        </p:blipFill>
        <p:spPr>
          <a:xfrm>
            <a:off x="4138100" y="300399"/>
            <a:ext cx="4593151" cy="2155151"/>
          </a:xfrm>
          <a:prstGeom prst="rect">
            <a:avLst/>
          </a:prstGeom>
          <a:noFill/>
          <a:ln>
            <a:noFill/>
          </a:ln>
        </p:spPr>
      </p:pic>
      <p:pic>
        <p:nvPicPr>
          <p:cNvPr id="185" name="Google Shape;185;p33"/>
          <p:cNvPicPr preferRelativeResize="0"/>
          <p:nvPr/>
        </p:nvPicPr>
        <p:blipFill>
          <a:blip r:embed="rId4">
            <a:alphaModFix/>
          </a:blip>
          <a:stretch>
            <a:fillRect/>
          </a:stretch>
        </p:blipFill>
        <p:spPr>
          <a:xfrm>
            <a:off x="2916375" y="2455550"/>
            <a:ext cx="3208025" cy="28430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nl"/>
              <a:t>Nog vragen?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Referenties</a:t>
            </a:r>
            <a:endParaRPr/>
          </a:p>
        </p:txBody>
      </p:sp>
      <p:sp>
        <p:nvSpPr>
          <p:cNvPr id="196" name="Google Shape;196;p35"/>
          <p:cNvSpPr txBox="1"/>
          <p:nvPr>
            <p:ph idx="1" type="body"/>
          </p:nvPr>
        </p:nvSpPr>
        <p:spPr>
          <a:xfrm>
            <a:off x="311700" y="1152475"/>
            <a:ext cx="3999900" cy="34863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nl" sz="600"/>
              <a:t>Bing Webmaster Tools. (n.d.). Link building. Geraadpleegd op 6 april 2026, van https://www.bing.com/webmasters/help/link-building-7a3f99b7 Bing Webmaster Tools. (n.d.). </a:t>
            </a:r>
            <a:endParaRPr sz="600"/>
          </a:p>
          <a:p>
            <a:pPr indent="0" lvl="0" marL="0" rtl="0" algn="l">
              <a:lnSpc>
                <a:spcPct val="100000"/>
              </a:lnSpc>
              <a:spcBef>
                <a:spcPts val="1200"/>
              </a:spcBef>
              <a:spcAft>
                <a:spcPts val="0"/>
              </a:spcAft>
              <a:buNone/>
            </a:pPr>
            <a:r>
              <a:rPr lang="nl" sz="600"/>
              <a:t>Webmaster guidelines. Geraadpleegd op 6 april 2026, van https://www.bing.com/webmasters/help/webmaster-guidelines-30fba23a Google. (2023). </a:t>
            </a:r>
            <a:endParaRPr sz="600"/>
          </a:p>
          <a:p>
            <a:pPr indent="0" lvl="0" marL="0" rtl="0" algn="l">
              <a:lnSpc>
                <a:spcPct val="100000"/>
              </a:lnSpc>
              <a:spcBef>
                <a:spcPts val="1200"/>
              </a:spcBef>
              <a:spcAft>
                <a:spcPts val="0"/>
              </a:spcAft>
              <a:buNone/>
            </a:pPr>
            <a:r>
              <a:rPr lang="nl" sz="600"/>
              <a:t>Search Quality Rater Guidelines: An overview. Mountain View, CA: Google. https://services.google.com/fh/files/misc/hsw-sqrg.pdf </a:t>
            </a:r>
            <a:endParaRPr sz="600"/>
          </a:p>
          <a:p>
            <a:pPr indent="0" lvl="0" marL="0" rtl="0" algn="l">
              <a:lnSpc>
                <a:spcPct val="100000"/>
              </a:lnSpc>
              <a:spcBef>
                <a:spcPts val="1200"/>
              </a:spcBef>
              <a:spcAft>
                <a:spcPts val="0"/>
              </a:spcAft>
              <a:buNone/>
            </a:pPr>
            <a:r>
              <a:rPr lang="nl" sz="600"/>
              <a:t>Google for Developers. (n.d.). Documentation to improve SEO. Google Search Central. Geraadpleegd op 6 april 2026, van https://developers.google.com/search/docs </a:t>
            </a:r>
            <a:endParaRPr sz="600"/>
          </a:p>
          <a:p>
            <a:pPr indent="0" lvl="0" marL="0" rtl="0" algn="l">
              <a:lnSpc>
                <a:spcPct val="100000"/>
              </a:lnSpc>
              <a:spcBef>
                <a:spcPts val="1200"/>
              </a:spcBef>
              <a:spcAft>
                <a:spcPts val="0"/>
              </a:spcAft>
              <a:buNone/>
            </a:pPr>
            <a:r>
              <a:rPr lang="nl" sz="600"/>
              <a:t>Google for Developers. (n.d.). Google Search technical requirements. Google Search Central. Geraadpleegd op 6 april 2026, van https://developers.google.com/search/docs/essentials/technical </a:t>
            </a:r>
            <a:endParaRPr sz="600"/>
          </a:p>
          <a:p>
            <a:pPr indent="0" lvl="0" marL="0" rtl="0" algn="l">
              <a:lnSpc>
                <a:spcPct val="100000"/>
              </a:lnSpc>
              <a:spcBef>
                <a:spcPts val="1200"/>
              </a:spcBef>
              <a:spcAft>
                <a:spcPts val="0"/>
              </a:spcAft>
              <a:buNone/>
            </a:pPr>
            <a:r>
              <a:rPr lang="nl" sz="600"/>
              <a:t>Google for Developers. (2026). Understanding Google Page Experience. Google Search Central. https://developers.google.com/search/docs/appearance/page-experience </a:t>
            </a:r>
            <a:endParaRPr sz="600"/>
          </a:p>
          <a:p>
            <a:pPr indent="0" lvl="0" marL="0" rtl="0" algn="l">
              <a:lnSpc>
                <a:spcPct val="100000"/>
              </a:lnSpc>
              <a:spcBef>
                <a:spcPts val="1200"/>
              </a:spcBef>
              <a:spcAft>
                <a:spcPts val="0"/>
              </a:spcAft>
              <a:buNone/>
            </a:pPr>
            <a:r>
              <a:rPr lang="nl" sz="600"/>
              <a:t>Google Search Central. (n.d.). Creating helpful, reliable, people-first content. Geraadpleegd op 6 april 2026, van https://developers.google.com/search/docs/fundamentals/creating-helpful-content</a:t>
            </a:r>
            <a:endParaRPr sz="600"/>
          </a:p>
          <a:p>
            <a:pPr indent="0" lvl="0" marL="0" rtl="0" algn="l">
              <a:spcBef>
                <a:spcPts val="1200"/>
              </a:spcBef>
              <a:spcAft>
                <a:spcPts val="0"/>
              </a:spcAft>
              <a:buNone/>
            </a:pPr>
            <a:r>
              <a:rPr lang="nl" sz="600"/>
              <a:t>Google Search Central. (n.d.). Image SEO best practices. Geraadpleegd op 6 april 2026, van https://developers.google.com/search/docs/appearance/google-images </a:t>
            </a:r>
            <a:endParaRPr sz="600"/>
          </a:p>
          <a:p>
            <a:pPr indent="0" lvl="0" marL="0" rtl="0" algn="l">
              <a:spcBef>
                <a:spcPts val="1200"/>
              </a:spcBef>
              <a:spcAft>
                <a:spcPts val="0"/>
              </a:spcAft>
              <a:buNone/>
            </a:pPr>
            <a:r>
              <a:rPr lang="nl" sz="600"/>
              <a:t>Google Search Central. (n.d.). In-depth guide to how Google Search works. Geraadpleegd op 6 april 2026, van https://developers.google.com/search/docs/fundamentals/how-search-works#indexing </a:t>
            </a:r>
            <a:endParaRPr sz="600"/>
          </a:p>
          <a:p>
            <a:pPr indent="0" lvl="0" marL="0" rtl="0" algn="l">
              <a:spcBef>
                <a:spcPts val="1200"/>
              </a:spcBef>
              <a:spcAft>
                <a:spcPts val="1200"/>
              </a:spcAft>
              <a:buNone/>
            </a:pPr>
            <a:r>
              <a:rPr lang="nl" sz="600"/>
              <a:t>Google Search Central. (n.d.). Influencing title links in Google Search. Geraadpleegd op 6 april 2026, van https://developers.google.com/search/docs/appearance/title-link </a:t>
            </a:r>
            <a:endParaRPr sz="600"/>
          </a:p>
        </p:txBody>
      </p:sp>
      <p:sp>
        <p:nvSpPr>
          <p:cNvPr id="197" name="Google Shape;197;p35"/>
          <p:cNvSpPr txBox="1"/>
          <p:nvPr>
            <p:ph idx="2" type="body"/>
          </p:nvPr>
        </p:nvSpPr>
        <p:spPr>
          <a:xfrm>
            <a:off x="4832400" y="1152475"/>
            <a:ext cx="3999900" cy="3680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nl" sz="600"/>
              <a:t>Google Search Central. (2024, 10 maart). Intro to how structured data markup works. Google for Developers. https://developers.google.com/search/docs/appearance/structured-data/intro-structured-data </a:t>
            </a:r>
            <a:endParaRPr sz="600"/>
          </a:p>
          <a:p>
            <a:pPr indent="0" lvl="0" marL="0" rtl="0" algn="l">
              <a:spcBef>
                <a:spcPts val="1200"/>
              </a:spcBef>
              <a:spcAft>
                <a:spcPts val="0"/>
              </a:spcAft>
              <a:buNone/>
            </a:pPr>
            <a:r>
              <a:rPr lang="nl" sz="600"/>
              <a:t>Google Search Central. (n.d.). Meta tags and attributes that Google supports. Geraadpleegd op 6 april 2026, van https://developers.google.com/search/docs/crawling-indexing/special-tags </a:t>
            </a:r>
            <a:endParaRPr sz="600"/>
          </a:p>
          <a:p>
            <a:pPr indent="0" lvl="0" marL="0" rtl="0" algn="l">
              <a:spcBef>
                <a:spcPts val="1200"/>
              </a:spcBef>
              <a:spcAft>
                <a:spcPts val="0"/>
              </a:spcAft>
              <a:buNone/>
            </a:pPr>
            <a:r>
              <a:rPr lang="nl" sz="600"/>
              <a:t>Google Search Central. (n.d.). SEO link best practices for Google. Geraadpleegd op 6 april 2026, van https://developers.google.com/search/docs/crawling-indexing/links-crawlable </a:t>
            </a:r>
            <a:endParaRPr sz="600"/>
          </a:p>
          <a:p>
            <a:pPr indent="0" lvl="0" marL="0" rtl="0" algn="l">
              <a:spcBef>
                <a:spcPts val="1200"/>
              </a:spcBef>
              <a:spcAft>
                <a:spcPts val="0"/>
              </a:spcAft>
              <a:buNone/>
            </a:pPr>
            <a:r>
              <a:rPr lang="nl" sz="600"/>
              <a:t>Google Search Central. (n.d.). Structured data markup that Google Search supports. Google for Developers. Geraadpleegd op 7 april 2026, van https://developers.google.com/search/docs/appearance/structured-data/search-gallery </a:t>
            </a:r>
            <a:endParaRPr sz="600"/>
          </a:p>
          <a:p>
            <a:pPr indent="0" lvl="0" marL="0" rtl="0" algn="l">
              <a:spcBef>
                <a:spcPts val="1200"/>
              </a:spcBef>
              <a:spcAft>
                <a:spcPts val="0"/>
              </a:spcAft>
              <a:buNone/>
            </a:pPr>
            <a:r>
              <a:rPr lang="nl" sz="600"/>
              <a:t>Google Search Central. (n.d.). URL structure best practices for Google Search. Geraadpleegd op 6 april 2026, van https://developers.google.com/search/docs/crawling-indexing/url-structure#best-practices </a:t>
            </a:r>
            <a:endParaRPr sz="600"/>
          </a:p>
          <a:p>
            <a:pPr indent="0" lvl="0" marL="0" rtl="0" algn="l">
              <a:spcBef>
                <a:spcPts val="1200"/>
              </a:spcBef>
              <a:spcAft>
                <a:spcPts val="0"/>
              </a:spcAft>
              <a:buNone/>
            </a:pPr>
            <a:r>
              <a:rPr lang="nl" sz="600"/>
              <a:t>MDN Web Docs. (2025, 11 juli). Crawler - Glossary. MDN. https://developer.mozilla.org/en-US/docs/Glossary/Crawler </a:t>
            </a:r>
            <a:endParaRPr sz="600"/>
          </a:p>
          <a:p>
            <a:pPr indent="0" lvl="0" marL="0" rtl="0" algn="l">
              <a:spcBef>
                <a:spcPts val="1200"/>
              </a:spcBef>
              <a:spcAft>
                <a:spcPts val="0"/>
              </a:spcAft>
              <a:buNone/>
            </a:pPr>
            <a:r>
              <a:rPr lang="nl" sz="600"/>
              <a:t>MDN Web Docs. (2025, 11 juli). SEO - Glossary. MDN. https://developer.mozilla.org/en-US/docs/Glossary/SEO Open Web Foundation. (n.d.). </a:t>
            </a:r>
            <a:endParaRPr sz="600"/>
          </a:p>
          <a:p>
            <a:pPr indent="0" lvl="0" marL="0" rtl="0" algn="l">
              <a:spcBef>
                <a:spcPts val="1200"/>
              </a:spcBef>
              <a:spcAft>
                <a:spcPts val="0"/>
              </a:spcAft>
              <a:buNone/>
            </a:pPr>
            <a:r>
              <a:rPr lang="nl" sz="600"/>
              <a:t>The Open Graph protocol. Geraadpleegd op 7 april 2026, van https://ogp.me/ </a:t>
            </a:r>
            <a:endParaRPr sz="600"/>
          </a:p>
          <a:p>
            <a:pPr indent="0" lvl="0" marL="0" rtl="0" algn="l">
              <a:spcBef>
                <a:spcPts val="1200"/>
              </a:spcBef>
              <a:spcAft>
                <a:spcPts val="0"/>
              </a:spcAft>
              <a:buNone/>
            </a:pPr>
            <a:r>
              <a:rPr lang="nl" sz="600"/>
              <a:t>Wikipedia contributors. (2026, 22 maart). List of search engines. Wikipedia. https://en.wikipedia.org/wiki/List_of_search_engines </a:t>
            </a:r>
            <a:endParaRPr sz="600"/>
          </a:p>
          <a:p>
            <a:pPr indent="0" lvl="0" marL="0" rtl="0" algn="l">
              <a:spcBef>
                <a:spcPts val="1200"/>
              </a:spcBef>
              <a:spcAft>
                <a:spcPts val="1200"/>
              </a:spcAft>
              <a:buNone/>
            </a:pPr>
            <a:r>
              <a:rPr lang="nl" sz="600"/>
              <a:t>Wikipedia contributors. (2026, 2 april). Search engine optimization. Wikipedia. https://en.wikipedia.org/wiki/Search_engine_optimization</a:t>
            </a:r>
            <a:endParaRPr sz="600"/>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